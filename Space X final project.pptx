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24"/>
  </p:notesMasterIdLst>
  <p:handoutMasterIdLst>
    <p:handoutMasterId r:id="rId25"/>
  </p:handoutMasterIdLst>
  <p:sldIdLst>
    <p:sldId id="256" r:id="rId5"/>
    <p:sldId id="258" r:id="rId6"/>
    <p:sldId id="259" r:id="rId7"/>
    <p:sldId id="260" r:id="rId8"/>
    <p:sldId id="261" r:id="rId9"/>
    <p:sldId id="279" r:id="rId10"/>
    <p:sldId id="276" r:id="rId11"/>
    <p:sldId id="277" r:id="rId12"/>
    <p:sldId id="278" r:id="rId13"/>
    <p:sldId id="262" r:id="rId14"/>
    <p:sldId id="280" r:id="rId15"/>
    <p:sldId id="263" r:id="rId16"/>
    <p:sldId id="281" r:id="rId17"/>
    <p:sldId id="282" r:id="rId18"/>
    <p:sldId id="283" r:id="rId19"/>
    <p:sldId id="284" r:id="rId20"/>
    <p:sldId id="285" r:id="rId21"/>
    <p:sldId id="286" r:id="rId22"/>
    <p:sldId id="272" r:id="rId23"/>
  </p:sldIdLst>
  <p:sldSz cx="12192000" cy="6858000"/>
  <p:notesSz cx="6858000" cy="1857375"/>
  <p:custDataLst>
    <p:tags r:id="rId2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44" userDrawn="1">
          <p15:clr>
            <a:srgbClr val="A4A3A4"/>
          </p15:clr>
        </p15:guide>
        <p15:guide id="2" pos="28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BD3AA52-0FB4-F6D0-6D07-1A3D2D9FD3FC}" name="Marianne Seidler" initials="MS" userId="S::mariannes@skillup.tech::bb0b4178-c940-4a9a-9c5e-e97bf5d50d86" providerId="AD"/>
  <p188:author id="{F554C3DC-94B8-9F7D-83FC-6D4CEC0DE845}" name="Dawn Teel-Friedman" initials="DTF" userId="Dawn Teel-Friedman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se Malcolm" initials="RM" lastIdx="1" clrIdx="0">
    <p:extLst>
      <p:ext uri="{19B8F6BF-5375-455C-9EA6-DF929625EA0E}">
        <p15:presenceInfo xmlns:p15="http://schemas.microsoft.com/office/powerpoint/2012/main" userId="Rose Malcolm" providerId="None"/>
      </p:ext>
    </p:extLst>
  </p:cmAuthor>
  <p:cmAuthor id="2" name="Rose Malcolm" initials="RM [2]" lastIdx="7" clrIdx="1">
    <p:extLst>
      <p:ext uri="{19B8F6BF-5375-455C-9EA6-DF929625EA0E}">
        <p15:presenceInfo xmlns:p15="http://schemas.microsoft.com/office/powerpoint/2012/main" userId="17c9fa32013483c0" providerId="Windows Live"/>
      </p:ext>
    </p:extLst>
  </p:cmAuthor>
  <p:cmAuthor id="3" name="Ramesh Sannareddy" initials="RS" lastIdx="7" clrIdx="2">
    <p:extLst>
      <p:ext uri="{19B8F6BF-5375-455C-9EA6-DF929625EA0E}">
        <p15:presenceInfo xmlns:p15="http://schemas.microsoft.com/office/powerpoint/2012/main" userId="YZ5PSXVD06EfD4/04RF+4IpszM4ZmL7FtUZDJf4jPLA=" providerId="None"/>
      </p:ext>
    </p:extLst>
  </p:cmAuthor>
  <p:cmAuthor id="4" name="UPKAR LIDDER" initials="UL" lastIdx="2" clrIdx="3"/>
  <p:cmAuthor id="5" name="Beth Larsen" initials="BL" lastIdx="1" clrIdx="4">
    <p:extLst>
      <p:ext uri="{19B8F6BF-5375-455C-9EA6-DF929625EA0E}">
        <p15:presenceInfo xmlns:p15="http://schemas.microsoft.com/office/powerpoint/2012/main" userId="04edb8684ac0beb8" providerId="Windows Live"/>
      </p:ext>
    </p:extLst>
  </p:cmAuthor>
  <p:cmAuthor id="6" name="Matt Ockenfels" initials="MO" lastIdx="1" clrIdx="5">
    <p:extLst>
      <p:ext uri="{19B8F6BF-5375-455C-9EA6-DF929625EA0E}">
        <p15:presenceInfo xmlns:p15="http://schemas.microsoft.com/office/powerpoint/2012/main" userId="S::matto@skillup.tech::1f5f8b86-5465-4302-9a82-9a36d055e8b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2C3"/>
    <a:srgbClr val="007D79"/>
    <a:srgbClr val="D02670"/>
    <a:srgbClr val="231F20"/>
    <a:srgbClr val="33B1FF"/>
    <a:srgbClr val="262626"/>
    <a:srgbClr val="525252"/>
    <a:srgbClr val="BE95FF"/>
    <a:srgbClr val="FFFFFF"/>
    <a:srgbClr val="C1C7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113" autoAdjust="0"/>
    <p:restoredTop sz="88494" autoAdjust="0"/>
  </p:normalViewPr>
  <p:slideViewPr>
    <p:cSldViewPr snapToGrid="0">
      <p:cViewPr>
        <p:scale>
          <a:sx n="100" d="100"/>
          <a:sy n="100" d="100"/>
        </p:scale>
        <p:origin x="58" y="326"/>
      </p:cViewPr>
      <p:guideLst>
        <p:guide orient="horz" pos="744"/>
        <p:guide pos="28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205" d="100"/>
          <a:sy n="205" d="100"/>
        </p:scale>
        <p:origin x="130" y="50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gs" Target="tags/tag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32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3AF258E-5225-B978-970C-5157073510D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936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9E1795-AACE-7D29-33F6-054EB711752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936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9FC323-A80B-4963-9A4F-5E8E9243F622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BAE134-A37E-9F21-239C-D06A282DDE3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763713"/>
            <a:ext cx="2971800" cy="936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46A847-D95C-3EE7-1CF2-4358337E835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1763713"/>
            <a:ext cx="2971800" cy="936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4CD7C6-4976-4D71-9398-48AF626054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9321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497948-54D2-43F8-9A63-A99FE3051738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r>
              <a:rPr lang="en-US"/>
              <a:t> </a:t>
            </a: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BDA0E2-FEBD-4B65-8F16-724CF984F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222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3873" y="1168401"/>
            <a:ext cx="10964254" cy="2387600"/>
          </a:xfrm>
          <a:solidFill>
            <a:schemeClr val="bg2"/>
          </a:solidFill>
        </p:spPr>
        <p:txBody>
          <a:bodyPr anchor="b">
            <a:normAutofit/>
          </a:bodyPr>
          <a:lstStyle>
            <a:lvl1pPr algn="ctr">
              <a:defRPr sz="4800" b="0" i="0">
                <a:solidFill>
                  <a:srgbClr val="525252"/>
                </a:solidFill>
                <a:latin typeface="IBM Plex Sans SemiBold" panose="020B0503050203000203" pitchFamily="34" charset="0"/>
                <a:ea typeface="IBM Plex Sans SemiBold" panose="020B0503050203000203" pitchFamily="34" charset="0"/>
                <a:cs typeface="IBM Plex Sans SemiBold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8273" y="3731247"/>
            <a:ext cx="9135454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 b="0" i="0">
                <a:solidFill>
                  <a:srgbClr val="525252"/>
                </a:solidFill>
                <a:latin typeface="IBM Plex Sans" panose="020B050305020300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2880360" y="3649111"/>
            <a:ext cx="6431280" cy="0"/>
          </a:xfrm>
          <a:prstGeom prst="line">
            <a:avLst/>
          </a:prstGeom>
          <a:ln>
            <a:solidFill>
              <a:srgbClr val="6C4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>
            <a:spLocks noChangeArrowheads="1"/>
          </p:cNvSpPr>
          <p:nvPr/>
        </p:nvSpPr>
        <p:spPr bwMode="black">
          <a:xfrm>
            <a:off x="4093580" y="5537419"/>
            <a:ext cx="4004840" cy="3043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sz="1400" b="0">
                <a:solidFill>
                  <a:srgbClr val="000000"/>
                </a:solidFill>
                <a:latin typeface="Helv"/>
              </a:rPr>
              <a:t>© IBM Corporation. All rights reserved.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B5BAB42-A6B6-D2DB-EC91-721CA287B900}"/>
              </a:ext>
            </a:extLst>
          </p:cNvPr>
          <p:cNvGrpSpPr/>
          <p:nvPr userDrawn="1"/>
        </p:nvGrpSpPr>
        <p:grpSpPr>
          <a:xfrm>
            <a:off x="11094856" y="6244940"/>
            <a:ext cx="1098532" cy="613059"/>
            <a:chOff x="8965342" y="4231217"/>
            <a:chExt cx="1608171" cy="897474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D9DAF80D-4D83-4EA4-3B9A-B4DEAA21CF43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321121" y="4418033"/>
              <a:ext cx="897474" cy="355817"/>
            </a:xfrm>
            <a:prstGeom prst="rect">
              <a:avLst/>
            </a:prstGeom>
          </p:spPr>
        </p:pic>
        <p:pic>
          <p:nvPicPr>
            <p:cNvPr id="11" name="Graphic 10" hidden="1">
              <a:extLst>
                <a:ext uri="{FF2B5EF4-FFF2-40B4-BE49-F238E27FC236}">
                  <a16:creationId xmlns:a16="http://schemas.microsoft.com/office/drawing/2014/main" id="{AA1B3EED-0A38-9B4D-C031-B7CFB1F16CD2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321121" y="4772874"/>
              <a:ext cx="897474" cy="355817"/>
            </a:xfrm>
            <a:prstGeom prst="rect">
              <a:avLst/>
            </a:prstGeom>
          </p:spPr>
        </p:pic>
        <p:pic>
          <p:nvPicPr>
            <p:cNvPr id="12" name="Graphic 11" hidden="1">
              <a:extLst>
                <a:ext uri="{FF2B5EF4-FFF2-40B4-BE49-F238E27FC236}">
                  <a16:creationId xmlns:a16="http://schemas.microsoft.com/office/drawing/2014/main" id="{D8BA40FF-052F-CEA2-8570-24062BFE0A7B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6200000">
              <a:off x="9946868" y="4502045"/>
              <a:ext cx="897474" cy="355817"/>
            </a:xfrm>
            <a:prstGeom prst="rect">
              <a:avLst/>
            </a:prstGeom>
          </p:spPr>
        </p:pic>
        <p:pic>
          <p:nvPicPr>
            <p:cNvPr id="13" name="Graphic 12" hidden="1">
              <a:extLst>
                <a:ext uri="{FF2B5EF4-FFF2-40B4-BE49-F238E27FC236}">
                  <a16:creationId xmlns:a16="http://schemas.microsoft.com/office/drawing/2014/main" id="{10305589-4F05-9658-71A7-2F6E7BFE9524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6200000">
              <a:off x="8694514" y="4502045"/>
              <a:ext cx="897474" cy="355817"/>
            </a:xfrm>
            <a:prstGeom prst="rect">
              <a:avLst/>
            </a:prstGeom>
          </p:spPr>
        </p:pic>
      </p:grpSp>
      <p:pic>
        <p:nvPicPr>
          <p:cNvPr id="14" name="Graphic 13">
            <a:extLst>
              <a:ext uri="{FF2B5EF4-FFF2-40B4-BE49-F238E27FC236}">
                <a16:creationId xmlns:a16="http://schemas.microsoft.com/office/drawing/2014/main" id="{EEFE9B80-1CD0-9614-4D99-C0FA5B74A8B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1053" y="6372101"/>
            <a:ext cx="1630680" cy="24765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36152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52525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00199"/>
            <a:ext cx="10744200" cy="4572000"/>
          </a:xfrm>
        </p:spPr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  <a:lvl2pPr>
              <a:defRPr>
                <a:solidFill>
                  <a:srgbClr val="262626"/>
                </a:solidFill>
              </a:defRPr>
            </a:lvl2pPr>
            <a:lvl3pPr>
              <a:defRPr>
                <a:solidFill>
                  <a:srgbClr val="262626"/>
                </a:solidFill>
              </a:defRPr>
            </a:lvl3pPr>
            <a:lvl4pPr>
              <a:defRPr>
                <a:solidFill>
                  <a:srgbClr val="262626"/>
                </a:solidFill>
              </a:defRPr>
            </a:lvl4pPr>
            <a:lvl5pPr>
              <a:defRPr>
                <a:solidFill>
                  <a:srgbClr val="26262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838200" y="1296645"/>
            <a:ext cx="10515600" cy="368"/>
          </a:xfrm>
          <a:prstGeom prst="line">
            <a:avLst/>
          </a:prstGeom>
          <a:ln>
            <a:solidFill>
              <a:srgbClr val="6C4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497029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>
                <a:solidFill>
                  <a:srgbClr val="525252"/>
                </a:solidFill>
                <a:latin typeface="IBM Plex Sans SemiBold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0200"/>
            <a:ext cx="5181600" cy="4572000"/>
          </a:xfrm>
        </p:spPr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  <a:lvl2pPr>
              <a:defRPr>
                <a:solidFill>
                  <a:srgbClr val="262626"/>
                </a:solidFill>
              </a:defRPr>
            </a:lvl2pPr>
            <a:lvl3pPr>
              <a:defRPr>
                <a:solidFill>
                  <a:srgbClr val="262626"/>
                </a:solidFill>
              </a:defRPr>
            </a:lvl3pPr>
            <a:lvl4pPr>
              <a:defRPr>
                <a:solidFill>
                  <a:srgbClr val="525252"/>
                </a:solidFill>
              </a:defRPr>
            </a:lvl4pPr>
            <a:lvl5pPr>
              <a:defRPr>
                <a:solidFill>
                  <a:srgbClr val="52525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181600" cy="4572000"/>
          </a:xfrm>
        </p:spPr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  <a:lvl2pPr>
              <a:defRPr>
                <a:solidFill>
                  <a:srgbClr val="262626"/>
                </a:solidFill>
              </a:defRPr>
            </a:lvl2pPr>
            <a:lvl3pPr>
              <a:defRPr>
                <a:solidFill>
                  <a:srgbClr val="262626"/>
                </a:solidFill>
              </a:defRPr>
            </a:lvl3pPr>
            <a:lvl4pPr>
              <a:defRPr>
                <a:solidFill>
                  <a:srgbClr val="525252"/>
                </a:solidFill>
              </a:defRPr>
            </a:lvl4pPr>
            <a:lvl5pPr>
              <a:defRPr>
                <a:solidFill>
                  <a:srgbClr val="52525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838200" y="1364249"/>
            <a:ext cx="10515600" cy="368"/>
          </a:xfrm>
          <a:prstGeom prst="line">
            <a:avLst/>
          </a:prstGeom>
          <a:ln>
            <a:solidFill>
              <a:srgbClr val="6C4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871343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793464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800" b="1" i="0">
                <a:solidFill>
                  <a:srgbClr val="525252"/>
                </a:solidFill>
                <a:latin typeface="IBM Plex Sans SemiBold" panose="020B0503050203000203" pitchFamily="34" charset="0"/>
                <a:ea typeface="IBM Plex Sans SemiBold" panose="020B0503050203000203" pitchFamily="34" charset="0"/>
                <a:cs typeface="IBM Plex Sans SemiBold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73270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7246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13" Type="http://schemas.openxmlformats.org/officeDocument/2006/relationships/image" Target="../media/image4.sv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12" Type="http://schemas.openxmlformats.org/officeDocument/2006/relationships/image" Target="../media/image3.sv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svg"/><Relationship Id="rId5" Type="http://schemas.openxmlformats.org/officeDocument/2006/relationships/slideLayout" Target="../slideLayouts/slideLayout5.xml"/><Relationship Id="rId10" Type="http://schemas.microsoft.com/office/2007/relationships/hdphoto" Target="../media/hdphoto1.wdp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4785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pic>
        <p:nvPicPr>
          <p:cNvPr id="12" name="Picture 11" descr="Text, logo&#10;&#10;Description automatically generated">
            <a:extLst>
              <a:ext uri="{FF2B5EF4-FFF2-40B4-BE49-F238E27FC236}">
                <a16:creationId xmlns:a16="http://schemas.microsoft.com/office/drawing/2014/main" id="{05161552-D656-B925-AB2F-4CA5F6FE727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alphaModFix amt="5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155000"/>
                    </a14:imgEffect>
                    <a14:imgEffect>
                      <a14:brightnessContrast contrast="-77000"/>
                    </a14:imgEffect>
                  </a14:imgLayer>
                </a14:imgProps>
              </a:ext>
            </a:extLst>
          </a:blip>
          <a:srcRect l="-1923" r="70315"/>
          <a:stretch/>
        </p:blipFill>
        <p:spPr>
          <a:xfrm>
            <a:off x="3345127" y="1418811"/>
            <a:ext cx="5501746" cy="482613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E377BDD-6725-68B2-639C-E47C9B4601F2}"/>
              </a:ext>
            </a:extLst>
          </p:cNvPr>
          <p:cNvSpPr/>
          <p:nvPr userDrawn="1"/>
        </p:nvSpPr>
        <p:spPr>
          <a:xfrm>
            <a:off x="12625444" y="2728308"/>
            <a:ext cx="1235879" cy="1235878"/>
          </a:xfrm>
          <a:prstGeom prst="rect">
            <a:avLst/>
          </a:prstGeom>
          <a:solidFill>
            <a:srgbClr val="BE95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#BE95FF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771CE0-19C9-5FCF-1B71-ACF36DEE6664}"/>
              </a:ext>
            </a:extLst>
          </p:cNvPr>
          <p:cNvSpPr/>
          <p:nvPr userDrawn="1"/>
        </p:nvSpPr>
        <p:spPr>
          <a:xfrm>
            <a:off x="18071881" y="2728308"/>
            <a:ext cx="1235879" cy="1235878"/>
          </a:xfrm>
          <a:prstGeom prst="rect">
            <a:avLst/>
          </a:prstGeom>
          <a:solidFill>
            <a:srgbClr val="33B1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#33B1FF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2A3F44-3AAC-9557-E214-F323108F6B65}"/>
              </a:ext>
            </a:extLst>
          </p:cNvPr>
          <p:cNvSpPr/>
          <p:nvPr userDrawn="1"/>
        </p:nvSpPr>
        <p:spPr>
          <a:xfrm>
            <a:off x="14440923" y="2728308"/>
            <a:ext cx="1235879" cy="1235878"/>
          </a:xfrm>
          <a:prstGeom prst="rect">
            <a:avLst/>
          </a:prstGeom>
          <a:solidFill>
            <a:srgbClr val="FF7EB6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#FF7EB6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6EA0613-E945-E437-C733-F9F008F63B76}"/>
              </a:ext>
            </a:extLst>
          </p:cNvPr>
          <p:cNvSpPr/>
          <p:nvPr userDrawn="1"/>
        </p:nvSpPr>
        <p:spPr>
          <a:xfrm>
            <a:off x="16256402" y="2728308"/>
            <a:ext cx="1235879" cy="1235878"/>
          </a:xfrm>
          <a:prstGeom prst="rect">
            <a:avLst/>
          </a:prstGeom>
          <a:solidFill>
            <a:srgbClr val="08BDBA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#08BDBA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EC5687-C25A-A73E-5192-674F560F89FA}"/>
              </a:ext>
            </a:extLst>
          </p:cNvPr>
          <p:cNvSpPr txBox="1"/>
          <p:nvPr userDrawn="1"/>
        </p:nvSpPr>
        <p:spPr>
          <a:xfrm>
            <a:off x="12602453" y="3912427"/>
            <a:ext cx="1237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0" dirty="0">
                <a:solidFill>
                  <a:srgbClr val="FFFFFF"/>
                </a:solidFill>
                <a:effectLst/>
              </a:rPr>
              <a:t>Purple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1F4021-33FE-506B-3C0D-688FEF669647}"/>
              </a:ext>
            </a:extLst>
          </p:cNvPr>
          <p:cNvSpPr txBox="1"/>
          <p:nvPr userDrawn="1"/>
        </p:nvSpPr>
        <p:spPr>
          <a:xfrm>
            <a:off x="14334144" y="3912427"/>
            <a:ext cx="1449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Magenta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6B112C-C780-5B47-83AA-D580E668C866}"/>
              </a:ext>
            </a:extLst>
          </p:cNvPr>
          <p:cNvSpPr txBox="1"/>
          <p:nvPr userDrawn="1"/>
        </p:nvSpPr>
        <p:spPr>
          <a:xfrm>
            <a:off x="16404771" y="3912427"/>
            <a:ext cx="966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Teal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92FC597-9201-21C6-383D-67750826F14D}"/>
              </a:ext>
            </a:extLst>
          </p:cNvPr>
          <p:cNvSpPr txBox="1"/>
          <p:nvPr userDrawn="1"/>
        </p:nvSpPr>
        <p:spPr>
          <a:xfrm>
            <a:off x="18206642" y="3912427"/>
            <a:ext cx="1055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Cyan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B4A6D56-917B-72D3-81F7-A59A36FC4198}"/>
              </a:ext>
            </a:extLst>
          </p:cNvPr>
          <p:cNvSpPr/>
          <p:nvPr userDrawn="1"/>
        </p:nvSpPr>
        <p:spPr>
          <a:xfrm>
            <a:off x="12625444" y="4418033"/>
            <a:ext cx="1235879" cy="1235878"/>
          </a:xfrm>
          <a:prstGeom prst="rect">
            <a:avLst/>
          </a:prstGeom>
          <a:solidFill>
            <a:srgbClr val="8A3FFC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#8A3FFC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512372-0859-45E3-8DD7-AE730B4AFD19}"/>
              </a:ext>
            </a:extLst>
          </p:cNvPr>
          <p:cNvSpPr/>
          <p:nvPr userDrawn="1"/>
        </p:nvSpPr>
        <p:spPr>
          <a:xfrm>
            <a:off x="18071881" y="4418033"/>
            <a:ext cx="1235879" cy="1235878"/>
          </a:xfrm>
          <a:prstGeom prst="rect">
            <a:avLst/>
          </a:prstGeom>
          <a:solidFill>
            <a:srgbClr val="0072C3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#0072C3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4197D57-5F46-DB39-F81D-9205CC53189F}"/>
              </a:ext>
            </a:extLst>
          </p:cNvPr>
          <p:cNvSpPr/>
          <p:nvPr userDrawn="1"/>
        </p:nvSpPr>
        <p:spPr>
          <a:xfrm>
            <a:off x="14440923" y="4418033"/>
            <a:ext cx="1235879" cy="1235878"/>
          </a:xfrm>
          <a:prstGeom prst="rect">
            <a:avLst/>
          </a:prstGeom>
          <a:solidFill>
            <a:srgbClr val="D02670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#D02670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70AA9B1-D6E7-98E2-49EF-C98B6F0E7E2F}"/>
              </a:ext>
            </a:extLst>
          </p:cNvPr>
          <p:cNvSpPr/>
          <p:nvPr userDrawn="1"/>
        </p:nvSpPr>
        <p:spPr>
          <a:xfrm>
            <a:off x="16256402" y="4418033"/>
            <a:ext cx="1235879" cy="1235878"/>
          </a:xfrm>
          <a:prstGeom prst="rect">
            <a:avLst/>
          </a:prstGeom>
          <a:solidFill>
            <a:srgbClr val="007D79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#007D79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0A9DFA7-88D2-04F7-451C-7A2C388B178F}"/>
              </a:ext>
            </a:extLst>
          </p:cNvPr>
          <p:cNvSpPr txBox="1"/>
          <p:nvPr userDrawn="1"/>
        </p:nvSpPr>
        <p:spPr>
          <a:xfrm>
            <a:off x="12602453" y="5602152"/>
            <a:ext cx="1237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0" dirty="0">
                <a:solidFill>
                  <a:srgbClr val="FFFFFF"/>
                </a:solidFill>
                <a:effectLst/>
              </a:rPr>
              <a:t>Purple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2C98F8E-1DCD-3647-3613-DFFC7CDFF372}"/>
              </a:ext>
            </a:extLst>
          </p:cNvPr>
          <p:cNvSpPr txBox="1"/>
          <p:nvPr userDrawn="1"/>
        </p:nvSpPr>
        <p:spPr>
          <a:xfrm>
            <a:off x="14334144" y="5602152"/>
            <a:ext cx="14480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Magenta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29F1073-373D-249D-C1F2-A527EB0210C9}"/>
              </a:ext>
            </a:extLst>
          </p:cNvPr>
          <p:cNvSpPr txBox="1"/>
          <p:nvPr userDrawn="1"/>
        </p:nvSpPr>
        <p:spPr>
          <a:xfrm>
            <a:off x="16404771" y="5602152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Teal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D12B31A-8903-A616-B756-B8695FC8F38A}"/>
              </a:ext>
            </a:extLst>
          </p:cNvPr>
          <p:cNvSpPr txBox="1"/>
          <p:nvPr userDrawn="1"/>
        </p:nvSpPr>
        <p:spPr>
          <a:xfrm>
            <a:off x="18206642" y="5602152"/>
            <a:ext cx="1055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Cyan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1892CDF-E500-AD18-C0DB-5405AF35ADE4}"/>
              </a:ext>
            </a:extLst>
          </p:cNvPr>
          <p:cNvSpPr/>
          <p:nvPr userDrawn="1"/>
        </p:nvSpPr>
        <p:spPr>
          <a:xfrm>
            <a:off x="19512379" y="2712316"/>
            <a:ext cx="1267863" cy="1267862"/>
          </a:xfrm>
          <a:prstGeom prst="rect">
            <a:avLst/>
          </a:prstGeom>
          <a:solidFill>
            <a:srgbClr val="121619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Icon</a:t>
            </a:r>
          </a:p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</a:t>
            </a:r>
            <a:r>
              <a:rPr lang="en-US" b="0" i="0" dirty="0">
                <a:solidFill>
                  <a:srgbClr val="FFFFFF"/>
                </a:solidFill>
                <a:effectLst/>
                <a:latin typeface="IBM Plex Mono" panose="020B0509050203000203" pitchFamily="49" charset="0"/>
              </a:rPr>
              <a:t>000000</a:t>
            </a:r>
            <a:endParaRPr lang="en-US" dirty="0">
              <a:solidFill>
                <a:schemeClr val="bg2"/>
              </a:solidFill>
              <a:latin typeface="IBM Plex Sans" panose="020B0503050203000203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ACF072D-B1FC-4829-B71E-556F57965D46}"/>
              </a:ext>
            </a:extLst>
          </p:cNvPr>
          <p:cNvSpPr/>
          <p:nvPr userDrawn="1"/>
        </p:nvSpPr>
        <p:spPr>
          <a:xfrm>
            <a:off x="19510690" y="4403963"/>
            <a:ext cx="1264019" cy="1264018"/>
          </a:xfrm>
          <a:prstGeom prst="rect">
            <a:avLst/>
          </a:prstGeom>
          <a:solidFill>
            <a:srgbClr val="FFFF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Icon</a:t>
            </a:r>
          </a:p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</a:t>
            </a:r>
            <a:r>
              <a:rPr lang="en-US" b="0" i="0" dirty="0">
                <a:solidFill>
                  <a:srgbClr val="262626"/>
                </a:solidFill>
                <a:effectLst/>
                <a:latin typeface="IBM Plex Mono" panose="020B0509050203000203" pitchFamily="49" charset="0"/>
              </a:rPr>
              <a:t>FFFFFF</a:t>
            </a:r>
            <a:endParaRPr lang="en-US" dirty="0">
              <a:solidFill>
                <a:srgbClr val="262626"/>
              </a:solidFill>
              <a:latin typeface="IBM Plex Sans" panose="020B0503050203000203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98BBA60-CCFF-F95A-ECC9-46204EA2214B}"/>
              </a:ext>
            </a:extLst>
          </p:cNvPr>
          <p:cNvSpPr/>
          <p:nvPr userDrawn="1"/>
        </p:nvSpPr>
        <p:spPr>
          <a:xfrm>
            <a:off x="12625444" y="1072749"/>
            <a:ext cx="1235879" cy="1235878"/>
          </a:xfrm>
          <a:prstGeom prst="rect">
            <a:avLst/>
          </a:prstGeom>
          <a:solidFill>
            <a:srgbClr val="F6F2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#F6F2FF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3F05CFF-A449-FBB3-5F13-F7A72C2E43DE}"/>
              </a:ext>
            </a:extLst>
          </p:cNvPr>
          <p:cNvSpPr/>
          <p:nvPr userDrawn="1"/>
        </p:nvSpPr>
        <p:spPr>
          <a:xfrm>
            <a:off x="18071881" y="1072749"/>
            <a:ext cx="1235879" cy="1235878"/>
          </a:xfrm>
          <a:prstGeom prst="rect">
            <a:avLst/>
          </a:prstGeom>
          <a:solidFill>
            <a:srgbClr val="E5F6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#E5F6FF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4895BC4-B52A-2D00-62C1-71A44604BBB4}"/>
              </a:ext>
            </a:extLst>
          </p:cNvPr>
          <p:cNvSpPr/>
          <p:nvPr userDrawn="1"/>
        </p:nvSpPr>
        <p:spPr>
          <a:xfrm>
            <a:off x="14440923" y="1072749"/>
            <a:ext cx="1235879" cy="1235878"/>
          </a:xfrm>
          <a:prstGeom prst="rect">
            <a:avLst/>
          </a:prstGeom>
          <a:solidFill>
            <a:srgbClr val="FFF0F7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#FFF0F7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5B5B6C5-97CB-45FD-FDEC-1F5C2A0BDC3E}"/>
              </a:ext>
            </a:extLst>
          </p:cNvPr>
          <p:cNvSpPr/>
          <p:nvPr userDrawn="1"/>
        </p:nvSpPr>
        <p:spPr>
          <a:xfrm>
            <a:off x="16256402" y="1072749"/>
            <a:ext cx="1235879" cy="1235878"/>
          </a:xfrm>
          <a:prstGeom prst="rect">
            <a:avLst/>
          </a:prstGeom>
          <a:solidFill>
            <a:srgbClr val="D9FBFB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#D9FBFB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4DCC439-D448-E0FC-26EF-94C7A8B8D0DB}"/>
              </a:ext>
            </a:extLst>
          </p:cNvPr>
          <p:cNvSpPr txBox="1"/>
          <p:nvPr userDrawn="1"/>
        </p:nvSpPr>
        <p:spPr>
          <a:xfrm>
            <a:off x="12602453" y="2256868"/>
            <a:ext cx="1237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0" dirty="0">
                <a:solidFill>
                  <a:srgbClr val="FFFFFF"/>
                </a:solidFill>
                <a:effectLst/>
              </a:rPr>
              <a:t>Purple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04B7B48-2E66-50BA-96FE-D24C4E60BFD7}"/>
              </a:ext>
            </a:extLst>
          </p:cNvPr>
          <p:cNvSpPr txBox="1"/>
          <p:nvPr userDrawn="1"/>
        </p:nvSpPr>
        <p:spPr>
          <a:xfrm>
            <a:off x="14334144" y="2256868"/>
            <a:ext cx="1449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Magenta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7C767BF-EB72-86A2-DBA6-0D26C6C02894}"/>
              </a:ext>
            </a:extLst>
          </p:cNvPr>
          <p:cNvSpPr txBox="1"/>
          <p:nvPr userDrawn="1"/>
        </p:nvSpPr>
        <p:spPr>
          <a:xfrm>
            <a:off x="16404771" y="2256868"/>
            <a:ext cx="966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Teal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FEDF829-6CB0-F03B-E025-85D510B4DC26}"/>
              </a:ext>
            </a:extLst>
          </p:cNvPr>
          <p:cNvSpPr txBox="1"/>
          <p:nvPr userDrawn="1"/>
        </p:nvSpPr>
        <p:spPr>
          <a:xfrm>
            <a:off x="18206642" y="2256868"/>
            <a:ext cx="1055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Cyan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FF97BF5-A64D-02F2-4B04-BC95CE39DF3F}"/>
              </a:ext>
            </a:extLst>
          </p:cNvPr>
          <p:cNvSpPr/>
          <p:nvPr userDrawn="1"/>
        </p:nvSpPr>
        <p:spPr>
          <a:xfrm>
            <a:off x="16222135" y="-2341897"/>
            <a:ext cx="1267863" cy="1267862"/>
          </a:xfrm>
          <a:prstGeom prst="rect">
            <a:avLst/>
          </a:prstGeom>
          <a:solidFill>
            <a:srgbClr val="C1C7CD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#C1C7CD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3738F9B-27C5-3C49-8FD7-0731EE9AC3BF}"/>
              </a:ext>
            </a:extLst>
          </p:cNvPr>
          <p:cNvSpPr/>
          <p:nvPr userDrawn="1"/>
        </p:nvSpPr>
        <p:spPr>
          <a:xfrm>
            <a:off x="16222135" y="-801901"/>
            <a:ext cx="1267863" cy="1267862"/>
          </a:xfrm>
          <a:prstGeom prst="rect">
            <a:avLst/>
          </a:prstGeom>
          <a:solidFill>
            <a:srgbClr val="F2F4F8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#F2F4F8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7194F16-D83C-3057-9151-A884EA8F0931}"/>
              </a:ext>
            </a:extLst>
          </p:cNvPr>
          <p:cNvSpPr/>
          <p:nvPr userDrawn="1"/>
        </p:nvSpPr>
        <p:spPr>
          <a:xfrm>
            <a:off x="14397282" y="-2352139"/>
            <a:ext cx="1267863" cy="1267862"/>
          </a:xfrm>
          <a:prstGeom prst="rect">
            <a:avLst/>
          </a:prstGeom>
          <a:solidFill>
            <a:srgbClr val="BE95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#BE95FF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0C7A661-0FF9-B849-2771-84AA24CF5EFF}"/>
              </a:ext>
            </a:extLst>
          </p:cNvPr>
          <p:cNvSpPr/>
          <p:nvPr userDrawn="1"/>
        </p:nvSpPr>
        <p:spPr>
          <a:xfrm>
            <a:off x="14397282" y="-812143"/>
            <a:ext cx="1267863" cy="1267862"/>
          </a:xfrm>
          <a:prstGeom prst="rect">
            <a:avLst/>
          </a:prstGeom>
          <a:solidFill>
            <a:srgbClr val="33B1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#33B1FF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84675A9-3F9A-460D-D8D6-C5D9516859D4}"/>
              </a:ext>
            </a:extLst>
          </p:cNvPr>
          <p:cNvSpPr/>
          <p:nvPr userDrawn="1"/>
        </p:nvSpPr>
        <p:spPr>
          <a:xfrm>
            <a:off x="12572429" y="-2309174"/>
            <a:ext cx="1267863" cy="1267862"/>
          </a:xfrm>
          <a:prstGeom prst="rect">
            <a:avLst/>
          </a:prstGeom>
          <a:solidFill>
            <a:srgbClr val="08BDBA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#08BDBA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D8C7787-7D0E-ED5D-DB99-53C4B52AA8F2}"/>
              </a:ext>
            </a:extLst>
          </p:cNvPr>
          <p:cNvSpPr/>
          <p:nvPr userDrawn="1"/>
        </p:nvSpPr>
        <p:spPr>
          <a:xfrm>
            <a:off x="12572429" y="-769178"/>
            <a:ext cx="1267863" cy="1267862"/>
          </a:xfrm>
          <a:prstGeom prst="rect">
            <a:avLst/>
          </a:prstGeom>
          <a:solidFill>
            <a:srgbClr val="78A9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#78A9FF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0CCBF62-5F94-E366-51BD-6C8DCBF90955}"/>
              </a:ext>
            </a:extLst>
          </p:cNvPr>
          <p:cNvSpPr/>
          <p:nvPr userDrawn="1"/>
        </p:nvSpPr>
        <p:spPr>
          <a:xfrm>
            <a:off x="17993876" y="-2309174"/>
            <a:ext cx="1267863" cy="1267862"/>
          </a:xfrm>
          <a:prstGeom prst="rect">
            <a:avLst/>
          </a:prstGeom>
          <a:solidFill>
            <a:srgbClr val="525252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Labels</a:t>
            </a:r>
          </a:p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#525252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5880850-0EBA-AD14-E6FD-BB1DC94F3DA5}"/>
              </a:ext>
            </a:extLst>
          </p:cNvPr>
          <p:cNvSpPr/>
          <p:nvPr userDrawn="1"/>
        </p:nvSpPr>
        <p:spPr>
          <a:xfrm>
            <a:off x="17993875" y="-812143"/>
            <a:ext cx="1267863" cy="1267862"/>
          </a:xfrm>
          <a:prstGeom prst="rect">
            <a:avLst/>
          </a:prstGeom>
          <a:solidFill>
            <a:srgbClr val="262626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Text</a:t>
            </a:r>
          </a:p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#262626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56209ACE-A4F7-EAC9-E98F-D141BE77F994}"/>
              </a:ext>
            </a:extLst>
          </p:cNvPr>
          <p:cNvGrpSpPr/>
          <p:nvPr userDrawn="1"/>
        </p:nvGrpSpPr>
        <p:grpSpPr>
          <a:xfrm>
            <a:off x="11094856" y="6244940"/>
            <a:ext cx="1098532" cy="613059"/>
            <a:chOff x="8965342" y="4231217"/>
            <a:chExt cx="1608171" cy="897474"/>
          </a:xfrm>
        </p:grpSpPr>
        <p:pic>
          <p:nvPicPr>
            <p:cNvPr id="60" name="Graphic 59">
              <a:extLst>
                <a:ext uri="{FF2B5EF4-FFF2-40B4-BE49-F238E27FC236}">
                  <a16:creationId xmlns:a16="http://schemas.microsoft.com/office/drawing/2014/main" id="{EFEE4105-67FB-F40B-E7BD-8C9B80C32F8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321121" y="4418033"/>
              <a:ext cx="897474" cy="355817"/>
            </a:xfrm>
            <a:prstGeom prst="rect">
              <a:avLst/>
            </a:prstGeom>
          </p:spPr>
        </p:pic>
        <p:pic>
          <p:nvPicPr>
            <p:cNvPr id="61" name="Graphic 60" hidden="1">
              <a:extLst>
                <a:ext uri="{FF2B5EF4-FFF2-40B4-BE49-F238E27FC236}">
                  <a16:creationId xmlns:a16="http://schemas.microsoft.com/office/drawing/2014/main" id="{9AB2407C-B3E2-DCDD-0692-DD32E3C45227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9321121" y="4772874"/>
              <a:ext cx="897474" cy="355817"/>
            </a:xfrm>
            <a:prstGeom prst="rect">
              <a:avLst/>
            </a:prstGeom>
          </p:spPr>
        </p:pic>
        <p:pic>
          <p:nvPicPr>
            <p:cNvPr id="62" name="Graphic 61" hidden="1">
              <a:extLst>
                <a:ext uri="{FF2B5EF4-FFF2-40B4-BE49-F238E27FC236}">
                  <a16:creationId xmlns:a16="http://schemas.microsoft.com/office/drawing/2014/main" id="{9128FFA9-E729-6051-FE44-5C57854D2B9B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 rot="16200000">
              <a:off x="9946868" y="4502045"/>
              <a:ext cx="897474" cy="355817"/>
            </a:xfrm>
            <a:prstGeom prst="rect">
              <a:avLst/>
            </a:prstGeom>
          </p:spPr>
        </p:pic>
        <p:pic>
          <p:nvPicPr>
            <p:cNvPr id="63" name="Graphic 62" hidden="1">
              <a:extLst>
                <a:ext uri="{FF2B5EF4-FFF2-40B4-BE49-F238E27FC236}">
                  <a16:creationId xmlns:a16="http://schemas.microsoft.com/office/drawing/2014/main" id="{21D1BE07-55D7-FEB6-D90F-FC214DFBDA4C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 rot="16200000">
              <a:off x="8694514" y="4502045"/>
              <a:ext cx="897474" cy="355817"/>
            </a:xfrm>
            <a:prstGeom prst="rect">
              <a:avLst/>
            </a:prstGeom>
          </p:spPr>
        </p:pic>
      </p:grpSp>
      <p:pic>
        <p:nvPicPr>
          <p:cNvPr id="66" name="Graphic 65">
            <a:extLst>
              <a:ext uri="{FF2B5EF4-FFF2-40B4-BE49-F238E27FC236}">
                <a16:creationId xmlns:a16="http://schemas.microsoft.com/office/drawing/2014/main" id="{FD0E63E5-36ED-0A5F-F2A0-E31AD11555E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41053" y="6372101"/>
            <a:ext cx="1630680" cy="247650"/>
          </a:xfrm>
          <a:prstGeom prst="rect">
            <a:avLst/>
          </a:prstGeom>
        </p:spPr>
      </p:pic>
      <p:sp>
        <p:nvSpPr>
          <p:cNvPr id="67" name="Rectangle 66" hidden="1">
            <a:extLst>
              <a:ext uri="{FF2B5EF4-FFF2-40B4-BE49-F238E27FC236}">
                <a16:creationId xmlns:a16="http://schemas.microsoft.com/office/drawing/2014/main" id="{04EE5960-43EB-4B14-0782-2876BE85A607}"/>
              </a:ext>
            </a:extLst>
          </p:cNvPr>
          <p:cNvSpPr/>
          <p:nvPr userDrawn="1"/>
        </p:nvSpPr>
        <p:spPr>
          <a:xfrm>
            <a:off x="-76201" y="6356350"/>
            <a:ext cx="12353925" cy="276797"/>
          </a:xfrm>
          <a:prstGeom prst="rect">
            <a:avLst/>
          </a:prstGeom>
          <a:noFill/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8"/>
    </p:custDataLst>
    <p:extLst>
      <p:ext uri="{BB962C8B-B14F-4D97-AF65-F5344CB8AC3E}">
        <p14:creationId xmlns:p14="http://schemas.microsoft.com/office/powerpoint/2010/main" val="1270442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6" r:id="rId4"/>
    <p:sldLayoutId id="2147483667" r:id="rId5"/>
    <p:sldLayoutId id="2147483673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>
          <a:solidFill>
            <a:srgbClr val="525252"/>
          </a:solidFill>
          <a:latin typeface="IBM Plex Sans SemiBold" panose="020B0503050203000203" pitchFamily="34" charset="0"/>
          <a:ea typeface="IBM Plex Sans SemiBold" panose="020B0503050203000203" pitchFamily="34" charset="0"/>
          <a:cs typeface="IBM Plex Sans SemiBold" panose="020B050305020300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4" Type="http://schemas.openxmlformats.org/officeDocument/2006/relationships/hyperlink" Target="https://github.com/andyjoap/Final-Project-SpaceX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2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 descr="SpaceX Statistics 2023: Launches, Employee Demographics, &amp; More">
            <a:extLst>
              <a:ext uri="{FF2B5EF4-FFF2-40B4-BE49-F238E27FC236}">
                <a16:creationId xmlns:a16="http://schemas.microsoft.com/office/drawing/2014/main" id="{36A8D45D-2B76-5057-F285-6D9468595B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" y="541020"/>
            <a:ext cx="11430000" cy="571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70D5631-0297-E86E-7069-C969B141FD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7680" y="-533400"/>
            <a:ext cx="10964254" cy="2387600"/>
          </a:xfrm>
          <a:noFill/>
        </p:spPr>
        <p:txBody>
          <a:bodyPr>
            <a:normAutofit/>
          </a:bodyPr>
          <a:lstStyle/>
          <a:p>
            <a:r>
              <a:rPr lang="en-US" sz="3800" dirty="0">
                <a:solidFill>
                  <a:schemeClr val="bg2"/>
                </a:solidFill>
              </a:rPr>
              <a:t>Predicting Falcon 9 Landing Success: A Data-Driven Approach to Saving Millions.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3954056D-797B-7EAB-5A8B-719FA57CF6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15496" y="4876005"/>
            <a:ext cx="9135454" cy="1655762"/>
          </a:xfrm>
        </p:spPr>
        <p:txBody>
          <a:bodyPr/>
          <a:lstStyle/>
          <a:p>
            <a:r>
              <a:rPr lang="en-US" b="1" dirty="0">
                <a:solidFill>
                  <a:schemeClr val="bg2"/>
                </a:solidFill>
              </a:rPr>
              <a:t>Capstone Project - IBM Data Science Professional Certificate</a:t>
            </a:r>
          </a:p>
          <a:p>
            <a:r>
              <a:rPr lang="en-US" b="1" dirty="0">
                <a:solidFill>
                  <a:srgbClr val="C1C7CD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https://github.com/andyjoap/</a:t>
            </a:r>
            <a:r>
              <a:rPr lang="en-US" b="1" dirty="0">
                <a:solidFill>
                  <a:schemeClr val="bg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Final-Project-SpaceX</a:t>
            </a:r>
            <a:endParaRPr lang="en-US" b="1" dirty="0">
              <a:solidFill>
                <a:schemeClr val="bg2"/>
              </a:solidFill>
            </a:endParaRPr>
          </a:p>
          <a:p>
            <a:r>
              <a:rPr lang="en-US" b="1" dirty="0">
                <a:solidFill>
                  <a:schemeClr val="bg2"/>
                </a:solidFill>
              </a:rPr>
              <a:t>Author: Andres Perucca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09730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48DC5-8A48-2A34-31B9-FC8CB168C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926" y="304965"/>
            <a:ext cx="8565109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B44109-938A-7A63-C3A8-FDDB5C799EA5}"/>
              </a:ext>
            </a:extLst>
          </p:cNvPr>
          <p:cNvSpPr txBox="1">
            <a:spLocks/>
          </p:cNvSpPr>
          <p:nvPr/>
        </p:nvSpPr>
        <p:spPr>
          <a:xfrm>
            <a:off x="4285075" y="1825624"/>
            <a:ext cx="7068725" cy="44654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6795A9-FE70-B337-8B17-B79ACA60A9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666" y="2313272"/>
            <a:ext cx="3194581" cy="3194581"/>
          </a:xfrm>
          <a:prstGeom prst="rect">
            <a:avLst/>
          </a:prstGeom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A23A6FBD-4CCB-29E9-7B6F-6F077E63D3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6095" y="1546705"/>
            <a:ext cx="8409064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Objective: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Develop a machine learning pipeline to predict the success of SpaceX Falcon 9 first-stage landings.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Problem: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Each launch costs roughly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$62 million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Reusing the first stage saves millions, making accurate predictions a high-value asset for mission planning.</a:t>
            </a:r>
          </a:p>
          <a:p>
            <a:r>
              <a:rPr lang="en-US" sz="2400" b="1" dirty="0"/>
              <a:t>Key Findings:</a:t>
            </a:r>
            <a:endParaRPr lang="en-US" sz="2400" dirty="0"/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400" dirty="0"/>
              <a:t>	Payload mass and orbit type significantly influence success.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400" dirty="0"/>
              <a:t>	Launch sites are strategically located near coastlines for safety.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400" b="1" dirty="0"/>
              <a:t>	Best Model:</a:t>
            </a:r>
            <a:r>
              <a:rPr lang="en-US" sz="2400" dirty="0"/>
              <a:t> Decision Tree (o </a:t>
            </a:r>
            <a:r>
              <a:rPr lang="en-US" sz="2400" dirty="0" err="1"/>
              <a:t>el</a:t>
            </a:r>
            <a:r>
              <a:rPr lang="en-US" sz="2400" dirty="0"/>
              <a:t> </a:t>
            </a:r>
            <a:r>
              <a:rPr lang="en-US" sz="2400" dirty="0" err="1"/>
              <a:t>que</a:t>
            </a:r>
            <a:r>
              <a:rPr lang="en-US" sz="2400" dirty="0"/>
              <a:t> </a:t>
            </a:r>
            <a:r>
              <a:rPr lang="en-US" sz="2400" dirty="0" err="1"/>
              <a:t>te</a:t>
            </a:r>
            <a:r>
              <a:rPr lang="en-US" sz="2400" dirty="0"/>
              <a:t> </a:t>
            </a:r>
            <a:r>
              <a:rPr lang="en-US" sz="2400" dirty="0" err="1"/>
              <a:t>haya</a:t>
            </a:r>
            <a:r>
              <a:rPr lang="en-US" sz="2400" dirty="0"/>
              <a:t> dado </a:t>
            </a:r>
            <a:r>
              <a:rPr lang="en-US" sz="2400" dirty="0" err="1"/>
              <a:t>mejor</a:t>
            </a:r>
            <a:r>
              <a:rPr lang="en-US" sz="2400" dirty="0"/>
              <a:t>), reaching an accuracy of </a:t>
            </a:r>
            <a:r>
              <a:rPr lang="en-US" sz="2400" b="1" dirty="0"/>
              <a:t>[Tu valor, </a:t>
            </a:r>
            <a:r>
              <a:rPr lang="en-US" sz="2400" b="1" dirty="0" err="1"/>
              <a:t>ej</a:t>
            </a:r>
            <a:r>
              <a:rPr lang="en-US" sz="2400" b="1" dirty="0"/>
              <a:t>. 94% o 83%]</a:t>
            </a:r>
            <a:r>
              <a:rPr lang="en-US" sz="2400" dirty="0"/>
              <a:t>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553854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76FB0-8465-86A8-332A-32CC35A5D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7DC8D-244C-F7EC-5F66-ACB99A7D6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021" y="365125"/>
            <a:ext cx="7647865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INTRODUCTION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BCC879F-E713-B75A-D2DE-0953EB0EA4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347" y="2262036"/>
            <a:ext cx="3054361" cy="3054361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408E7281-DCA6-1E66-CBB1-344931714E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0671" y="1392689"/>
            <a:ext cx="794845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Background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SpaceX has revolutionized space travel by introducing reusable rocket technology. The Falcon 9’s first stage can land on ground pads or autonomous spaceport drone ships (ASDS).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Problem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Landing failure results in the loss of expensive hardware. Predicting these outcomes helps in risk assessment and insurance cost estimation.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Objective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To analyze historical launch data and build a classification model that predicts whether the first stage will land successfully based on mission parameters.</a:t>
            </a:r>
            <a:endParaRPr kumimoji="0" lang="en-US" altLang="en-US" sz="240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408633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1DCFD-8450-17AD-05D4-229BA1C66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AB7E7-7534-10CB-A359-88015C285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053" y="376642"/>
            <a:ext cx="10716527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Data Collection &amp; Wrangling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F8C842-232A-AE37-3471-90353781809D}"/>
              </a:ext>
            </a:extLst>
          </p:cNvPr>
          <p:cNvSpPr txBox="1">
            <a:spLocks/>
          </p:cNvSpPr>
          <p:nvPr/>
        </p:nvSpPr>
        <p:spPr>
          <a:xfrm>
            <a:off x="4285075" y="1825625"/>
            <a:ext cx="70687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0CF71F-8A03-DAC7-4BC2-F05644ECBF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655" y="1831709"/>
            <a:ext cx="3194581" cy="319458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C19245F-917F-1241-9BFE-6B5EE33358A8}"/>
              </a:ext>
            </a:extLst>
          </p:cNvPr>
          <p:cNvSpPr txBox="1"/>
          <p:nvPr/>
        </p:nvSpPr>
        <p:spPr>
          <a:xfrm>
            <a:off x="4395355" y="1911927"/>
            <a:ext cx="711777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Data Collection:</a:t>
            </a:r>
            <a:r>
              <a:rPr lang="en-US" sz="2400" dirty="0"/>
              <a:t> SpaceX REST API and Web Scraping (Wikipedia) for historical launch data.</a:t>
            </a:r>
          </a:p>
          <a:p>
            <a:r>
              <a:rPr lang="en-US" sz="2400" b="1" dirty="0"/>
              <a:t>Data Wrangling:</a:t>
            </a:r>
            <a:r>
              <a:rPr lang="en-US" sz="2400" dirty="0"/>
              <a:t> Handling missing values in </a:t>
            </a:r>
            <a:r>
              <a:rPr lang="en-US" sz="2400" dirty="0" err="1"/>
              <a:t>PayloadMass</a:t>
            </a:r>
            <a:r>
              <a:rPr lang="en-US" sz="2400" dirty="0"/>
              <a:t>, creating dummy variables for categorical features (Orbit, Site), and label encoding landing outcomes (1 = Success, 0 = Failure).</a:t>
            </a:r>
          </a:p>
          <a:p>
            <a:r>
              <a:rPr lang="en-US" sz="2400" b="1" dirty="0"/>
              <a:t>Analysis Tools:</a:t>
            </a:r>
            <a:r>
              <a:rPr lang="en-US" sz="2400" dirty="0"/>
              <a:t> Python (Pandas, </a:t>
            </a:r>
            <a:r>
              <a:rPr lang="en-US" sz="2400" dirty="0" err="1"/>
              <a:t>Numpy</a:t>
            </a:r>
            <a:r>
              <a:rPr lang="en-US" sz="2400" dirty="0"/>
              <a:t>), SQL for structured queries, Folium for spatial analysis, and Scikit-Learn for modeling.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916925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3F900-F166-BEB7-F740-8C872536D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210DC-B757-47AF-44F4-D6EC9F4BF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9080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EDA &amp; Interactive Visual Analytics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E1D05E-A3D3-356F-EB51-94E7A1AE2A61}"/>
              </a:ext>
            </a:extLst>
          </p:cNvPr>
          <p:cNvSpPr txBox="1">
            <a:spLocks/>
          </p:cNvSpPr>
          <p:nvPr/>
        </p:nvSpPr>
        <p:spPr>
          <a:xfrm>
            <a:off x="1043114" y="1825625"/>
            <a:ext cx="70687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endParaRPr lang="en-US" sz="1800"/>
          </a:p>
          <a:p>
            <a:pPr marL="0" indent="0">
              <a:buFont typeface="Arial"/>
              <a:buNone/>
            </a:pPr>
            <a:endParaRPr lang="en-US" sz="1800"/>
          </a:p>
          <a:p>
            <a:pPr marL="0" indent="0">
              <a:buFont typeface="Arial"/>
              <a:buNone/>
            </a:pPr>
            <a:endParaRPr lang="en-US" sz="1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64F0D8-AF4F-1267-BCC5-C78BDA1F1CBE}"/>
              </a:ext>
            </a:extLst>
          </p:cNvPr>
          <p:cNvSpPr txBox="1"/>
          <p:nvPr/>
        </p:nvSpPr>
        <p:spPr>
          <a:xfrm>
            <a:off x="731520" y="1714500"/>
            <a:ext cx="105918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en-US" sz="2400" dirty="0"/>
              <a:t>Exploratory Data Analysis (EDA): Used Pandas and Seaborn to find correlations between variables like Payload Mass and Launch Site.</a:t>
            </a:r>
          </a:p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en-US" sz="2400" dirty="0"/>
              <a:t>SQL Analysis: Leveraged SQLite to perform complex queries, such as identifying the total number of successful missions and ranking launch sites by volume.</a:t>
            </a:r>
          </a:p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en-US" sz="2400" dirty="0"/>
              <a:t>Exploratory Data Analysis (EDA): Performed comprehensive data exploration using Pandas and Seaborn to identify correlations between payload mass, launch sites, and mission success.</a:t>
            </a:r>
          </a:p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en-US" sz="2400" dirty="0"/>
              <a:t>Statistical Visualization: Generated various charts (Scatter plots, Bar charts, and Line graphs) to visualize trends over time and the performance of different rocket versions.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159085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30CB8-8F93-1067-CBFA-05F11DF14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647700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Predictive analysis methodology</a:t>
            </a:r>
            <a:br>
              <a:rPr lang="en-US" dirty="0"/>
            </a:b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01E938-2FF4-2B20-179D-0E2D5D009A3B}"/>
              </a:ext>
            </a:extLst>
          </p:cNvPr>
          <p:cNvSpPr txBox="1"/>
          <p:nvPr/>
        </p:nvSpPr>
        <p:spPr>
          <a:xfrm>
            <a:off x="990600" y="1295400"/>
            <a:ext cx="110490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/>
              <a:t>Objective</a:t>
            </a:r>
            <a:r>
              <a:rPr lang="en-US" dirty="0"/>
              <a:t>: To build and compare four supervised machine learning models to classify whether a mission's first stage will land successfully.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/>
              <a:t>Algorithms</a:t>
            </a:r>
            <a:r>
              <a:rPr lang="en-US" dirty="0"/>
              <a:t> </a:t>
            </a:r>
            <a:r>
              <a:rPr lang="en-US" b="1" dirty="0"/>
              <a:t>Selected</a:t>
            </a:r>
            <a:r>
              <a:rPr lang="en-US" dirty="0"/>
              <a:t>: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/>
              <a:t>Logistic Regression: Baseline model for binary classification.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/>
              <a:t>Support Vector Machine (SVM): Effective in high-dimensional spaces.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/>
              <a:t>Decision Tree: Non-linear model capable of capturing complex decision rules.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/>
              <a:t>K-Nearest Neighbors (KNN): Instance-based learning for local pattern detection.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Standardization: Applied </a:t>
            </a:r>
            <a:r>
              <a:rPr lang="en-US" dirty="0" err="1"/>
              <a:t>StandardScaler</a:t>
            </a:r>
            <a:r>
              <a:rPr lang="en-US" dirty="0"/>
              <a:t> to the feature set ($X$) to ensure all variables have a mean of 0 and standard deviation of 1, preventing features with larger scales (like Payload Mass) from biasing the models.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Hyperparameter Tuning: Utilized </a:t>
            </a:r>
            <a:r>
              <a:rPr lang="en-US" dirty="0" err="1"/>
              <a:t>GridSearchCV</a:t>
            </a:r>
            <a:r>
              <a:rPr lang="en-US" dirty="0"/>
              <a:t> with 10-fold cross-validation for each model to identify the optimal parameters (e.g., regularization strength $C$, kernel types, and maximum tree depth).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Data Splitting: Divided the processed dataset into Training (80%) and Testing (20%) sets to evaluate the models' generalization ability on unseen data.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Key Findings:</a:t>
            </a:r>
            <a:endParaRPr lang="en-US" dirty="0"/>
          </a:p>
          <a:p>
            <a:pPr algn="just"/>
            <a:r>
              <a:rPr lang="en-US" b="1" dirty="0"/>
              <a:t>Top Performer:</a:t>
            </a:r>
            <a:r>
              <a:rPr lang="en-US" dirty="0"/>
              <a:t> The </a:t>
            </a:r>
            <a:r>
              <a:rPr lang="en-US" b="1" dirty="0"/>
              <a:t>Decision Tree</a:t>
            </a:r>
            <a:r>
              <a:rPr lang="en-US" dirty="0"/>
              <a:t> achieved the highest accuracy (</a:t>
            </a:r>
            <a:r>
              <a:rPr lang="en-US" b="1" dirty="0"/>
              <a:t>88.89%</a:t>
            </a:r>
            <a:r>
              <a:rPr lang="en-US" dirty="0"/>
              <a:t>), correctly predicting more outcomes on the test set than its counterparts.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59345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159A03E-294C-471C-447A-84654FAED8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30316"/>
            <a:ext cx="6355080" cy="419898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16104D9-2DEF-9C0C-CA5C-F498F7651B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2608" y="2575199"/>
            <a:ext cx="5860332" cy="4160881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CF5772EE-ED2D-2AA2-D1D2-4F5913767E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7193" y="609600"/>
            <a:ext cx="10964254" cy="840740"/>
          </a:xfrm>
        </p:spPr>
        <p:txBody>
          <a:bodyPr/>
          <a:lstStyle/>
          <a:p>
            <a:r>
              <a:rPr lang="en-US" dirty="0"/>
              <a:t>EDA with visualization results </a:t>
            </a:r>
          </a:p>
        </p:txBody>
      </p:sp>
    </p:spTree>
    <p:extLst>
      <p:ext uri="{BB962C8B-B14F-4D97-AF65-F5344CB8AC3E}">
        <p14:creationId xmlns:p14="http://schemas.microsoft.com/office/powerpoint/2010/main" val="21558898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A0B6E94-C017-5278-A8A3-05C3A40AE8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4159" y="1424715"/>
            <a:ext cx="8100762" cy="5197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6126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20DDBE1-7B9B-FD47-F5DA-3DE6FA9629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9903" y="1481874"/>
            <a:ext cx="8009314" cy="4976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1948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27A2E-C667-F6D3-A1E3-47F70603E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539A591-4DF0-3912-FF72-3FD0BD7B9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0"/>
            <a:ext cx="10515600" cy="1325563"/>
          </a:xfrm>
        </p:spPr>
        <p:txBody>
          <a:bodyPr/>
          <a:lstStyle/>
          <a:p>
            <a:r>
              <a:rPr lang="en-US" dirty="0"/>
              <a:t>EDA SQL Results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384881C-6B91-BE70-3A97-E4B17588AB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336" y="3619381"/>
            <a:ext cx="9312447" cy="274343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FE0C1CA-3D7B-D4B7-0279-6920A6A21E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716" y="1005720"/>
            <a:ext cx="4016088" cy="275867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844674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E69851D-8483-427A-A1CD-A26D781614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330" y="1542886"/>
            <a:ext cx="10379339" cy="3772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3061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7BF14-48B4-018D-63EE-DF24A5A8C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44DA4-C4B2-2A92-8A96-C527D8D02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Interactive map results using Folium</a:t>
            </a:r>
            <a:endParaRPr lang="en-US" sz="28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3664506-BFA6-5683-8A33-D0F391C637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5932" y="2091574"/>
            <a:ext cx="9640135" cy="267485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012887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AFA9404-3F8E-9C9F-E6CC-B46D44766D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4501" y="1093267"/>
            <a:ext cx="9662997" cy="4671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8277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2484752-97F8-7622-3199-38C1D96684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386" y="1817179"/>
            <a:ext cx="9541067" cy="4397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6926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8BE14-7B8F-9B49-12BF-BD7E82F39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Plotly Dash dashboard results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7B222B2-9390-FFED-0ACE-003DC123DD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66594"/>
            <a:ext cx="12192000" cy="5653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3872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FB377-343F-2338-1AA6-A7953299D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9665EC-136F-7D71-F324-667287F4744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833724-3E40-63E3-EE05-F18AE89941F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249EB2-05D6-BC98-81C2-C58880BE37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" y="515431"/>
            <a:ext cx="12192000" cy="6038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8031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524AB-B3E5-6C99-0CA0-F248B6319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3675A6-51A9-36C7-B833-346C1E9B7FE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C6F00E-E502-E600-92AA-ED3BF8848E7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B2A7603-8F2A-9645-3697-307436EFAD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323248"/>
            <a:ext cx="12192000" cy="6031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7873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0667F-5610-14C1-CA7E-466625193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Predictive analysis (classification)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AF8F2-9417-C29B-80E5-E7507738B6C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E8C570-637C-DC44-CA54-529E7DAA79A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Decision Tree Score:</a:t>
            </a:r>
          </a:p>
          <a:p>
            <a:pPr marL="0" indent="0">
              <a:buNone/>
            </a:pPr>
            <a:r>
              <a:rPr lang="en-US" dirty="0"/>
              <a:t>	0.88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729842-BC4A-1806-B089-39EFABA302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752" y="1432319"/>
            <a:ext cx="4364877" cy="5059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8761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3A16F-6AB5-5C0B-5466-65B2A6AE8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5E978FF3-BC93-079A-1687-DD4786B81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CONCLUSION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2E75918E-509D-16F8-F478-FA41759FEFE9}"/>
              </a:ext>
            </a:extLst>
          </p:cNvPr>
          <p:cNvSpPr txBox="1">
            <a:spLocks/>
          </p:cNvSpPr>
          <p:nvPr/>
        </p:nvSpPr>
        <p:spPr>
          <a:xfrm>
            <a:off x="3980411" y="1711324"/>
            <a:ext cx="7205749" cy="462851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000" b="1" dirty="0"/>
              <a:t>Feasibility of Prediction</a:t>
            </a:r>
            <a:r>
              <a:rPr lang="en-US" sz="2000" dirty="0"/>
              <a:t>: The project successfully demonstrates that SpaceX Falcon 9 landing outcomes can be predicted with high accuracy (88.89%) using machine learning models.</a:t>
            </a:r>
          </a:p>
          <a:p>
            <a:pPr algn="just"/>
            <a:r>
              <a:rPr lang="en-US" sz="2000" b="1" dirty="0"/>
              <a:t>Key Success Drivers</a:t>
            </a:r>
            <a:r>
              <a:rPr lang="en-US" sz="2000" dirty="0"/>
              <a:t>: Through our analysis, we identified that Payload Mass and Orbit Type are the most critical factors influencing the success of a first-stage recovery.</a:t>
            </a:r>
          </a:p>
          <a:p>
            <a:pPr algn="just"/>
            <a:r>
              <a:rPr lang="en-US" sz="2000" b="1" dirty="0"/>
              <a:t>Strategic </a:t>
            </a:r>
            <a:r>
              <a:rPr lang="en-US" sz="2000" b="1" dirty="0" err="1"/>
              <a:t>Insights</a:t>
            </a:r>
            <a:r>
              <a:rPr lang="en-US" sz="2000" dirty="0" err="1"/>
              <a:t>:Launch</a:t>
            </a:r>
            <a:r>
              <a:rPr lang="en-US" sz="2000" dirty="0"/>
              <a:t> sites are strategically placed near the coast to ensure safety, confirming that geographical factors are as important as technical </a:t>
            </a:r>
            <a:r>
              <a:rPr lang="en-US" sz="2000" dirty="0" err="1"/>
              <a:t>ones.The</a:t>
            </a:r>
            <a:r>
              <a:rPr lang="en-US" sz="2000" dirty="0"/>
              <a:t> learning curve is evident: success rates have improved significantly as the number of flights increased.</a:t>
            </a:r>
          </a:p>
          <a:p>
            <a:pPr algn="just"/>
            <a:r>
              <a:rPr lang="en-US" sz="2000" b="1" dirty="0"/>
              <a:t>Economic Impact</a:t>
            </a:r>
            <a:r>
              <a:rPr lang="en-US" sz="2000" dirty="0"/>
              <a:t>: By providing reliable landing forecasts, SpaceX can better manage its fleet of reusable rockets, potentially saving $40M+ per mission and optimizing global space logistics.</a:t>
            </a:r>
          </a:p>
          <a:p>
            <a:pPr algn="just"/>
            <a:r>
              <a:rPr lang="en-US" sz="2000" b="1" dirty="0"/>
              <a:t>Future Work</a:t>
            </a:r>
            <a:r>
              <a:rPr lang="en-US" sz="2000" dirty="0"/>
              <a:t>: Further improvements could be achieved by incorporating real-time weather data (wind speeds, sea state) and increasing the dataset size as more launches occur.</a:t>
            </a:r>
          </a:p>
        </p:txBody>
      </p:sp>
      <p:pic>
        <p:nvPicPr>
          <p:cNvPr id="13" name="Content Placeholder 5">
            <a:extLst>
              <a:ext uri="{FF2B5EF4-FFF2-40B4-BE49-F238E27FC236}">
                <a16:creationId xmlns:a16="http://schemas.microsoft.com/office/drawing/2014/main" id="{CD985AE9-0D12-3398-B9B7-4395CABF170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737347" y="2159616"/>
            <a:ext cx="3054361" cy="305436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84037823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18"/>
  <p:tag name="ARTICULATE_DESIGN_ID_SLIDE_TEMPLATE_SKILL_NETWORK" val="762xjmeN"/>
  <p:tag name="ARTICULATE_DESIGN_ID_IBM DEVELOPER 2018 WHITE BACKGROUND" val="AcyDFp8V"/>
  <p:tag name="ARTICULATE_SLIDE_THUMBNAIL_REFRESH" val="1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SLIDE_TEMPLATE_skill_network">
  <a:themeElements>
    <a:clrScheme name="IBM Skills Network">
      <a:dk1>
        <a:srgbClr val="262626"/>
      </a:dk1>
      <a:lt1>
        <a:srgbClr val="525252"/>
      </a:lt1>
      <a:dk2>
        <a:srgbClr val="FFFFFF"/>
      </a:dk2>
      <a:lt2>
        <a:srgbClr val="FFFFFF"/>
      </a:lt2>
      <a:accent1>
        <a:srgbClr val="6C4DEA"/>
      </a:accent1>
      <a:accent2>
        <a:srgbClr val="82CFFF"/>
      </a:accent2>
      <a:accent3>
        <a:srgbClr val="FF7EB6"/>
      </a:accent3>
      <a:accent4>
        <a:srgbClr val="3DDBD9"/>
      </a:accent4>
      <a:accent5>
        <a:srgbClr val="5B9BD5"/>
      </a:accent5>
      <a:accent6>
        <a:srgbClr val="525252"/>
      </a:accent6>
      <a:hlink>
        <a:srgbClr val="C1C7CD"/>
      </a:hlink>
      <a:folHlink>
        <a:srgbClr val="DA1E28"/>
      </a:folHlink>
    </a:clrScheme>
    <a:fontScheme name="IBM Skills Network">
      <a:majorFont>
        <a:latin typeface="IBM Plex Sans SemiBold"/>
        <a:ea typeface=""/>
        <a:cs typeface=""/>
      </a:majorFont>
      <a:minorFont>
        <a:latin typeface="IBM Plex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BM Skills Network PPT Template 01.2023.pptx" id="{565886F7-76CC-4370-877F-2511E1EB1B28}" vid="{AD061E48-3596-4052-9172-46F1919207B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ECD86F56755A646AC8AFCBCBD967F21" ma:contentTypeVersion="19" ma:contentTypeDescription="Create a new document." ma:contentTypeScope="" ma:versionID="d7279d4efbac013e02c1e816bc7f7c13">
  <xsd:schema xmlns:xsd="http://www.w3.org/2001/XMLSchema" xmlns:xs="http://www.w3.org/2001/XMLSchema" xmlns:p="http://schemas.microsoft.com/office/2006/metadata/properties" xmlns:ns2="155be751-a274-42e8-93fb-f39d3b9bccc8" xmlns:ns3="f80a141d-92ca-4d3d-9308-f7e7b1d44ce8" targetNamespace="http://schemas.microsoft.com/office/2006/metadata/properties" ma:root="true" ma:fieldsID="0a3fd1dbe83fc08387abb87098562ef0" ns2:_="" ns3:_="">
    <xsd:import namespace="155be751-a274-42e8-93fb-f39d3b9bccc8"/>
    <xsd:import namespace="f80a141d-92ca-4d3d-9308-f7e7b1d44ce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AWBlink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5be751-a274-42e8-93fb-f39d3b9bccc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1bfc8dc1-ab14-4a6b-8a4a-9f7f0b948a9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AWBlink" ma:index="25" nillable="true" ma:displayName="AWB link" ma:description="Author Workbench link" ma:format="Dropdown" ma:internalName="AWBlink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0a141d-92ca-4d3d-9308-f7e7b1d44ce8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02edd55d-11a0-43df-8094-42adcb6055ca}" ma:internalName="TaxCatchAll" ma:showField="CatchAllData" ma:web="f80a141d-92ca-4d3d-9308-f7e7b1d44ce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55be751-a274-42e8-93fb-f39d3b9bccc8">
      <Terms xmlns="http://schemas.microsoft.com/office/infopath/2007/PartnerControls"/>
    </lcf76f155ced4ddcb4097134ff3c332f>
    <TaxCatchAll xmlns="f80a141d-92ca-4d3d-9308-f7e7b1d44ce8" xsi:nil="true"/>
    <AWBlink xmlns="155be751-a274-42e8-93fb-f39d3b9bccc8" xsi:nil="true"/>
  </documentManagement>
</p:properties>
</file>

<file path=customXml/itemProps1.xml><?xml version="1.0" encoding="utf-8"?>
<ds:datastoreItem xmlns:ds="http://schemas.openxmlformats.org/officeDocument/2006/customXml" ds:itemID="{7EFDA260-DDA0-422C-B7AE-778F653FBB3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EAB06F8-DBB4-44C7-AF84-8B098C8B039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55be751-a274-42e8-93fb-f39d3b9bccc8"/>
    <ds:schemaRef ds:uri="f80a141d-92ca-4d3d-9308-f7e7b1d44ce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4DA07C5-A406-4A0D-B3E6-3856C94AC7F3}">
  <ds:schemaRefs>
    <ds:schemaRef ds:uri="155be751-a274-42e8-93fb-f39d3b9bccc8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f80a141d-92ca-4d3d-9308-f7e7b1d44ce8"/>
    <ds:schemaRef ds:uri="http://www.w3.org/XML/1998/namespace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IBM PPT Temp Jan 2023</Template>
  <TotalTime>156</TotalTime>
  <Words>806</Words>
  <Application>Microsoft Office PowerPoint</Application>
  <PresentationFormat>Widescreen</PresentationFormat>
  <Paragraphs>53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9" baseType="lpstr">
      <vt:lpstr>Aptos</vt:lpstr>
      <vt:lpstr>Arial</vt:lpstr>
      <vt:lpstr>Calibri</vt:lpstr>
      <vt:lpstr>Courier New</vt:lpstr>
      <vt:lpstr>Helv</vt:lpstr>
      <vt:lpstr>IBM Plex Mono</vt:lpstr>
      <vt:lpstr>IBM Plex Sans</vt:lpstr>
      <vt:lpstr>IBM Plex Sans SemiBold</vt:lpstr>
      <vt:lpstr>Wingdings</vt:lpstr>
      <vt:lpstr>SLIDE_TEMPLATE_skill_network</vt:lpstr>
      <vt:lpstr>Predicting Falcon 9 Landing Success: A Data-Driven Approach to Saving Millions.</vt:lpstr>
      <vt:lpstr>EXECUTIVE SUMMARY</vt:lpstr>
      <vt:lpstr>INTRODUCTION</vt:lpstr>
      <vt:lpstr>Data Collection &amp; Wrangling Methodology</vt:lpstr>
      <vt:lpstr>EDA &amp; Interactive Visual Analytics Methodology</vt:lpstr>
      <vt:lpstr>Predictive analysis methodology </vt:lpstr>
      <vt:lpstr>EDA with visualization results </vt:lpstr>
      <vt:lpstr>PowerPoint Presentation</vt:lpstr>
      <vt:lpstr>PowerPoint Presentation</vt:lpstr>
      <vt:lpstr>EDA SQL Results</vt:lpstr>
      <vt:lpstr>PowerPoint Presentation</vt:lpstr>
      <vt:lpstr>Interactive map results using Folium</vt:lpstr>
      <vt:lpstr>PowerPoint Presentation</vt:lpstr>
      <vt:lpstr>PowerPoint Presentation</vt:lpstr>
      <vt:lpstr>Plotly Dash dashboard results </vt:lpstr>
      <vt:lpstr>PowerPoint Presentation</vt:lpstr>
      <vt:lpstr>PowerPoint Presentation</vt:lpstr>
      <vt:lpstr>Predictive analysis (classification) 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Tori Sleeper</dc:creator>
  <cp:lastModifiedBy>Andrés Perucca</cp:lastModifiedBy>
  <cp:revision>10</cp:revision>
  <dcterms:created xsi:type="dcterms:W3CDTF">2024-10-30T05:40:03Z</dcterms:created>
  <dcterms:modified xsi:type="dcterms:W3CDTF">2026-04-27T18:04:01Z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0x010100EECD86F56755A646AC8AFCBCBD967F21</vt:lpwstr>
  </property>
  <property fmtid="{D5CDD505-2E9C-101B-9397-08002B2CF9AE}" pid="3" name="MediaServiceImageTags">
    <vt:lpwstr/>
  </property>
  <property fmtid="{D5CDD505-2E9C-101B-9397-08002B2CF9AE}" pid="4" name="ArticulateGUID">
    <vt:lpwstr>07C438A6-8092-445C-AC0D-AE1422093206</vt:lpwstr>
  </property>
  <property fmtid="{D5CDD505-2E9C-101B-9397-08002B2CF9AE}" pid="5" name="ArticulatePath">
    <vt:lpwstr>https://skilluptech.sharepoint.com/sites/Coursera/Shared Documents/General/PPT template/IBM Skills Network PPT Template 01.2023</vt:lpwstr>
  </property>
</Properties>
</file>